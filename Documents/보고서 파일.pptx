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75" r:id="rId3"/>
    <p:sldId id="256" r:id="rId4"/>
    <p:sldId id="257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277" r:id="rId13"/>
    <p:sldId id="279" r:id="rId14"/>
    <p:sldId id="282" r:id="rId15"/>
    <p:sldId id="281" r:id="rId16"/>
    <p:sldId id="284" r:id="rId17"/>
    <p:sldId id="285" r:id="rId18"/>
    <p:sldId id="286" r:id="rId19"/>
    <p:sldId id="283" r:id="rId20"/>
    <p:sldId id="263" r:id="rId21"/>
    <p:sldId id="260" r:id="rId22"/>
    <p:sldId id="264" r:id="rId23"/>
    <p:sldId id="280" r:id="rId24"/>
    <p:sldId id="262" r:id="rId25"/>
    <p:sldId id="265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157" dt="2026-08-26T00:32:36.8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76" d="100"/>
          <a:sy n="76" d="100"/>
        </p:scale>
        <p:origin x="51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0:32:36.799" v="7385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add del ord">
        <pc:chgData name="연우 오" userId="c3558644dac54ca4" providerId="LiveId" clId="{9333FDCA-79D6-4088-A778-579BE454CE38}" dt="2026-08-22T09:29:02.742" v="5093"/>
        <pc:sldMkLst>
          <pc:docMk/>
          <pc:sldMk cId="0" sldId="260"/>
        </pc:sldMkLst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4T05:13:32.028" v="5612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6.046" v="5605" actId="1076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add del ord">
        <pc:chgData name="연우 오" userId="c3558644dac54ca4" providerId="LiveId" clId="{9333FDCA-79D6-4088-A778-579BE454CE38}" dt="2026-08-22T09:29:04.393" v="5095"/>
        <pc:sldMkLst>
          <pc:docMk/>
          <pc:sldMk cId="0" sldId="264"/>
        </pc:sldMkLst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delSp add mod">
        <pc:chgData name="연우 오" userId="c3558644dac54ca4" providerId="LiveId" clId="{9333FDCA-79D6-4088-A778-579BE454CE38}" dt="2026-08-25T05:53:58.785" v="6119" actId="478"/>
        <pc:sldMkLst>
          <pc:docMk/>
          <pc:sldMk cId="857794491" sldId="283"/>
        </pc:sldMkLst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0:15:54.013" v="7112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delSp modSp add mod addAnim delAnim modAnim">
        <pc:chgData name="연우 오" userId="c3558644dac54ca4" providerId="LiveId" clId="{9333FDCA-79D6-4088-A778-579BE454CE38}" dt="2026-08-26T00:17:53.545" v="7269"/>
        <pc:sldMkLst>
          <pc:docMk/>
          <pc:sldMk cId="1462384119" sldId="286"/>
        </pc:sldMkLst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A94A8-8093-B7EC-EABA-39D8EF3B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6D31717-00BF-C42E-433E-32349A8DA075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BB98DD-74D4-BC10-4328-ED6F496CB0CD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A9DAED-3EED-E287-0284-3214C2EDAEE9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42FBB4F-9D6E-DB95-BE6A-362E139F30F0}"/>
              </a:ext>
            </a:extLst>
          </p:cNvPr>
          <p:cNvSpPr/>
          <p:nvPr/>
        </p:nvSpPr>
        <p:spPr>
          <a:xfrm>
            <a:off x="743858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B51F6B-7CCD-DC4A-B5A7-C2C866F2FF54}"/>
              </a:ext>
            </a:extLst>
          </p:cNvPr>
          <p:cNvSpPr/>
          <p:nvPr/>
        </p:nvSpPr>
        <p:spPr>
          <a:xfrm>
            <a:off x="777240" y="1737360"/>
            <a:ext cx="69710" cy="481135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2ECAA6-2184-F677-6B89-FB3CA3972837}"/>
              </a:ext>
            </a:extLst>
          </p:cNvPr>
          <p:cNvSpPr txBox="1"/>
          <p:nvPr/>
        </p:nvSpPr>
        <p:spPr>
          <a:xfrm>
            <a:off x="973295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29A264-EB51-2EE6-A9AC-EE98856ADB7F}"/>
              </a:ext>
            </a:extLst>
          </p:cNvPr>
          <p:cNvSpPr txBox="1"/>
          <p:nvPr/>
        </p:nvSpPr>
        <p:spPr>
          <a:xfrm>
            <a:off x="973295" y="2240506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전하의</a:t>
            </a:r>
            <a:r>
              <a:rPr dirty="0"/>
              <a:t> </a:t>
            </a:r>
            <a:r>
              <a:rPr dirty="0" err="1"/>
              <a:t>위치와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퍼텐셜</a:t>
            </a:r>
            <a:r>
              <a:rPr dirty="0"/>
              <a:t> </a:t>
            </a:r>
            <a:r>
              <a:rPr dirty="0" err="1"/>
              <a:t>V를</a:t>
            </a:r>
            <a:r>
              <a:rPr dirty="0"/>
              <a:t> </a:t>
            </a:r>
            <a:r>
              <a:rPr dirty="0" err="1"/>
              <a:t>계산한다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물리량을</a:t>
            </a:r>
            <a:r>
              <a:rPr dirty="0"/>
              <a:t> </a:t>
            </a:r>
            <a:r>
              <a:rPr dirty="0" err="1"/>
              <a:t>얻는다</a:t>
            </a:r>
            <a:r>
              <a:rPr dirty="0"/>
              <a:t>.</a:t>
            </a: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1821C43-791A-6685-A3EE-AB3420C7C86C}"/>
              </a:ext>
            </a:extLst>
          </p:cNvPr>
          <p:cNvSpPr/>
          <p:nvPr/>
        </p:nvSpPr>
        <p:spPr>
          <a:xfrm>
            <a:off x="438912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FBB99C-A088-0513-5A6F-40BA4C7A95F8}"/>
              </a:ext>
            </a:extLst>
          </p:cNvPr>
          <p:cNvSpPr/>
          <p:nvPr/>
        </p:nvSpPr>
        <p:spPr>
          <a:xfrm>
            <a:off x="4389120" y="1737360"/>
            <a:ext cx="69710" cy="4811358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5FB16D-C766-F391-700A-AD979F4BBEAB}"/>
              </a:ext>
            </a:extLst>
          </p:cNvPr>
          <p:cNvSpPr txBox="1"/>
          <p:nvPr/>
        </p:nvSpPr>
        <p:spPr>
          <a:xfrm>
            <a:off x="4658240" y="1732675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역문제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4AC0D8-868E-F7F7-48E9-03D0BDAC880A}"/>
              </a:ext>
            </a:extLst>
          </p:cNvPr>
          <p:cNvSpPr txBox="1"/>
          <p:nvPr/>
        </p:nvSpPr>
        <p:spPr>
          <a:xfrm>
            <a:off x="4585177" y="2240506"/>
            <a:ext cx="2875519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결과만</a:t>
            </a:r>
            <a:r>
              <a:rPr dirty="0"/>
              <a:t> </a:t>
            </a:r>
            <a:r>
              <a:rPr dirty="0" err="1"/>
              <a:t>주어진다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전하가</a:t>
            </a:r>
            <a:r>
              <a:rPr dirty="0"/>
              <a:t> </a:t>
            </a:r>
            <a:r>
              <a:rPr dirty="0" err="1"/>
              <a:t>만들었는지</a:t>
            </a:r>
            <a:r>
              <a:rPr dirty="0"/>
              <a:t> </a:t>
            </a:r>
            <a:r>
              <a:rPr dirty="0" err="1"/>
              <a:t>추정</a:t>
            </a:r>
            <a:r>
              <a:rPr lang="ko-KR" altLang="en-US" dirty="0"/>
              <a:t>할 수 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해가</a:t>
            </a:r>
            <a:r>
              <a:rPr dirty="0"/>
              <a:t> </a:t>
            </a:r>
            <a:r>
              <a:rPr dirty="0" err="1"/>
              <a:t>가능할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108800F-5606-3EBE-2609-27B8C83A6B5E}"/>
              </a:ext>
            </a:extLst>
          </p:cNvPr>
          <p:cNvSpPr/>
          <p:nvPr/>
        </p:nvSpPr>
        <p:spPr>
          <a:xfrm>
            <a:off x="800100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059B2E-43A7-D571-48E3-5EFA79EAD58C}"/>
              </a:ext>
            </a:extLst>
          </p:cNvPr>
          <p:cNvSpPr/>
          <p:nvPr/>
        </p:nvSpPr>
        <p:spPr>
          <a:xfrm>
            <a:off x="8001000" y="1737360"/>
            <a:ext cx="69710" cy="4811358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EF6721-E95C-CAFF-1324-D26929F5A809}"/>
              </a:ext>
            </a:extLst>
          </p:cNvPr>
          <p:cNvSpPr txBox="1"/>
          <p:nvPr/>
        </p:nvSpPr>
        <p:spPr>
          <a:xfrm>
            <a:off x="8197057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탐구의</a:t>
            </a:r>
            <a:r>
              <a:rPr dirty="0"/>
              <a:t> </a:t>
            </a:r>
            <a:r>
              <a:rPr dirty="0" err="1"/>
              <a:t>출발점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840A38-B8B3-03A1-E12A-5C87C801BA15}"/>
              </a:ext>
            </a:extLst>
          </p:cNvPr>
          <p:cNvSpPr txBox="1"/>
          <p:nvPr/>
        </p:nvSpPr>
        <p:spPr>
          <a:xfrm>
            <a:off x="8197056" y="2240506"/>
            <a:ext cx="2875519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정보가</a:t>
            </a:r>
            <a:r>
              <a:rPr dirty="0"/>
              <a:t> </a:t>
            </a:r>
            <a:r>
              <a:rPr dirty="0" err="1"/>
              <a:t>일부</a:t>
            </a:r>
            <a:r>
              <a:rPr dirty="0"/>
              <a:t> </a:t>
            </a:r>
            <a:r>
              <a:rPr dirty="0" err="1"/>
              <a:t>소실된다</a:t>
            </a:r>
            <a:endParaRPr lang="en-US" alt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→</a:t>
            </a:r>
            <a:r>
              <a:rPr lang="en-US" altLang="ko-KR" dirty="0"/>
              <a:t>AI</a:t>
            </a:r>
            <a:r>
              <a:rPr lang="ko-KR" altLang="en-US" dirty="0"/>
              <a:t>라면 고전적 역산보다 해를 도출하는 데 유리하지 않을까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D3BF2B-BEDB-7F7F-0929-E26D57932E2F}"/>
              </a:ext>
            </a:extLst>
          </p:cNvPr>
          <p:cNvSpPr txBox="1"/>
          <p:nvPr/>
        </p:nvSpPr>
        <p:spPr>
          <a:xfrm>
            <a:off x="973295" y="4143039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★☆☆☆☆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고등학교 물리학 </a:t>
            </a:r>
            <a:r>
              <a:rPr lang="en-US" altLang="ko-KR" dirty="0"/>
              <a:t>1 </a:t>
            </a:r>
            <a:r>
              <a:rPr lang="ko-KR" altLang="en-US" dirty="0"/>
              <a:t>과정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탐구의 시작점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EAABBC-A23F-DCD6-9B51-CE5217B64F96}"/>
              </a:ext>
            </a:extLst>
          </p:cNvPr>
          <p:cNvSpPr txBox="1"/>
          <p:nvPr/>
        </p:nvSpPr>
        <p:spPr>
          <a:xfrm>
            <a:off x="4585177" y="4143039"/>
            <a:ext cx="287551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★★★☆☆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altLang="ko-KR" dirty="0"/>
              <a:t>-</a:t>
            </a:r>
            <a:r>
              <a:rPr lang="ko-KR" altLang="en-US" dirty="0"/>
              <a:t>단순 고전적 계산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-AI</a:t>
            </a:r>
            <a:r>
              <a:rPr lang="ko-KR" altLang="en-US" dirty="0"/>
              <a:t>의 도입이 불필요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CE1D37-1AF6-53CB-5BD8-DF4051ED5BB2}"/>
              </a:ext>
            </a:extLst>
          </p:cNvPr>
          <p:cNvSpPr txBox="1"/>
          <p:nvPr/>
        </p:nvSpPr>
        <p:spPr>
          <a:xfrm>
            <a:off x="8231913" y="4143039"/>
            <a:ext cx="2875519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난이도 ★★★★★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자체 생산 데이터 사용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데이터로 통계적 추정</a:t>
            </a:r>
            <a:endParaRPr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22006DD-02B5-4310-0BFB-16AA6EC862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625" t="25333" r="7642" b="4359"/>
          <a:stretch>
            <a:fillRect/>
          </a:stretch>
        </p:blipFill>
        <p:spPr>
          <a:xfrm>
            <a:off x="8001000" y="1737362"/>
            <a:ext cx="3259322" cy="4821691"/>
          </a:xfrm>
          <a:custGeom>
            <a:avLst/>
            <a:gdLst>
              <a:gd name="csX0" fmla="*/ 0 w 3259322"/>
              <a:gd name="csY0" fmla="*/ 0 h 4821691"/>
              <a:gd name="csX1" fmla="*/ 3259322 w 3259322"/>
              <a:gd name="csY1" fmla="*/ 0 h 4821691"/>
              <a:gd name="csX2" fmla="*/ 3259322 w 3259322"/>
              <a:gd name="csY2" fmla="*/ 4821691 h 4821691"/>
              <a:gd name="csX3" fmla="*/ 0 w 3259322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59322" h="4821691">
                <a:moveTo>
                  <a:pt x="0" y="0"/>
                </a:moveTo>
                <a:lnTo>
                  <a:pt x="3259322" y="0"/>
                </a:lnTo>
                <a:lnTo>
                  <a:pt x="3259322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33718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목적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42859-D978-CD4F-DD26-2E3B5996D1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2167DE26-C953-A2CD-4466-D8D49DF92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5081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E055B74-6D07-8027-C2E0-43F217250C44}"/>
              </a:ext>
            </a:extLst>
          </p:cNvPr>
          <p:cNvSpPr/>
          <p:nvPr/>
        </p:nvSpPr>
        <p:spPr>
          <a:xfrm>
            <a:off x="4305299" y="3386138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E23E5A-DE1E-3A9B-6078-49F0E7AF3D81}"/>
              </a:ext>
            </a:extLst>
          </p:cNvPr>
          <p:cNvSpPr/>
          <p:nvPr/>
        </p:nvSpPr>
        <p:spPr>
          <a:xfrm>
            <a:off x="4305036" y="3429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BD44B7B-EEAB-1931-A1FD-882A9B40D634}"/>
              </a:ext>
            </a:extLst>
          </p:cNvPr>
          <p:cNvSpPr/>
          <p:nvPr/>
        </p:nvSpPr>
        <p:spPr>
          <a:xfrm>
            <a:off x="4419600" y="1524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607578-A191-5B26-370C-FE64CA517EAA}"/>
              </a:ext>
            </a:extLst>
          </p:cNvPr>
          <p:cNvSpPr/>
          <p:nvPr/>
        </p:nvSpPr>
        <p:spPr>
          <a:xfrm>
            <a:off x="4258317" y="2290762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F91DC-E3C9-5240-310B-DEDC506789CE}"/>
              </a:ext>
            </a:extLst>
          </p:cNvPr>
          <p:cNvSpPr/>
          <p:nvPr/>
        </p:nvSpPr>
        <p:spPr>
          <a:xfrm>
            <a:off x="4571807" y="4191000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EF02D0-06D3-894B-A201-F8EA901ECF77}"/>
              </a:ext>
            </a:extLst>
          </p:cNvPr>
          <p:cNvSpPr/>
          <p:nvPr/>
        </p:nvSpPr>
        <p:spPr>
          <a:xfrm>
            <a:off x="4571807" y="4586288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91D03D-FDF9-D6C1-3814-18D536568054}"/>
              </a:ext>
            </a:extLst>
          </p:cNvPr>
          <p:cNvSpPr/>
          <p:nvPr/>
        </p:nvSpPr>
        <p:spPr>
          <a:xfrm>
            <a:off x="4571807" y="4926103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논리적으로 전하의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</m:t>
                                    </m:r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100">
        <p159:morph option="byObject"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7B9DCD-EDEE-1B89-48B4-67ADC7D7B39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F315CD-1989-9E71-CEF4-814D1AAF38B9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63CBB4-59A1-8CD5-FA7C-574E931AFE2B}"/>
              </a:ext>
            </a:extLst>
          </p:cNvPr>
          <p:cNvSpPr txBox="1"/>
          <p:nvPr/>
        </p:nvSpPr>
        <p:spPr>
          <a:xfrm>
            <a:off x="1280160" y="26974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 크기 정보는 남지만 V → −V에 대해 값이 변하지 않는다.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C702CB2-3533-8ECC-8410-104B95A4AB0A}"/>
              </a:ext>
            </a:extLst>
          </p:cNvPr>
          <p:cNvSpPr/>
          <p:nvPr/>
        </p:nvSpPr>
        <p:spPr>
          <a:xfrm>
            <a:off x="1828800" y="4709160"/>
            <a:ext cx="8503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8878F3-7361-67A5-B369-67844CC58BFF}"/>
              </a:ext>
            </a:extLst>
          </p:cNvPr>
          <p:cNvSpPr/>
          <p:nvPr/>
        </p:nvSpPr>
        <p:spPr>
          <a:xfrm>
            <a:off x="1828800" y="4709160"/>
            <a:ext cx="73152" cy="105156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85FAEF-646D-F2B5-C729-C983828F45C7}"/>
              </a:ext>
            </a:extLst>
          </p:cNvPr>
          <p:cNvSpPr txBox="1"/>
          <p:nvPr/>
        </p:nvSpPr>
        <p:spPr>
          <a:xfrm>
            <a:off x="2057400" y="48737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중요한 해석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D1AB01-9833-7392-77A3-C7F147E06B05}"/>
              </a:ext>
            </a:extLst>
          </p:cNvPr>
          <p:cNvSpPr txBox="1"/>
          <p:nvPr/>
        </p:nvSpPr>
        <p:spPr>
          <a:xfrm>
            <a:off x="2057400" y="5349240"/>
            <a:ext cx="809244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400">
                <a:solidFill>
                  <a:srgbClr val="5C6574"/>
                </a:solidFill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탐구에서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KK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이론은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‘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이론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자체를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검증’하는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것이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아니라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동일한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표현해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손실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조건을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설계하는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틀로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사용한다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17" name="Rounded Rectangle 9">
            <a:extLst>
              <a:ext uri="{FF2B5EF4-FFF2-40B4-BE49-F238E27FC236}">
                <a16:creationId xmlns:a16="http://schemas.microsoft.com/office/drawing/2014/main" id="{BDF79776-3222-AA88-39F3-6F4FE2A05261}"/>
              </a:ext>
            </a:extLst>
          </p:cNvPr>
          <p:cNvSpPr/>
          <p:nvPr/>
        </p:nvSpPr>
        <p:spPr>
          <a:xfrm>
            <a:off x="1112367" y="315546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6300EF-1025-7D39-97D9-6F395B13D8D5}"/>
              </a:ext>
            </a:extLst>
          </p:cNvPr>
          <p:cNvSpPr txBox="1"/>
          <p:nvPr/>
        </p:nvSpPr>
        <p:spPr>
          <a:xfrm>
            <a:off x="1609023" y="3225606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27CDEA-2B3D-225E-4DEA-4B6F782488AF}"/>
              </a:ext>
            </a:extLst>
          </p:cNvPr>
          <p:cNvSpPr txBox="1"/>
          <p:nvPr/>
        </p:nvSpPr>
        <p:spPr>
          <a:xfrm>
            <a:off x="1849473" y="4023360"/>
            <a:ext cx="846257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정보까지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포함하므로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판별에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직접적인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단서를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준다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821167" y="2697480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112367" y="315546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09023" y="3225606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849473" y="4023360"/>
            <a:ext cx="846257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정보까지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포함하므로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판별에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직접적인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단서를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준다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709160"/>
            <a:ext cx="8503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828800" y="4709160"/>
            <a:ext cx="73152" cy="105156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057400" y="48737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중요한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5281053"/>
            <a:ext cx="809244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400">
                <a:solidFill>
                  <a:srgbClr val="5C6574"/>
                </a:solidFill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탐구에서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KK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이론은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‘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이론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자체를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검증’하는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것이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아니라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동일한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표현해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손실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조건을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설계하는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틀로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사용한다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29E76F4-8747-D59E-08C8-35E0A3246F44}"/>
                  </a:ext>
                </a:extLst>
              </p:cNvPr>
              <p:cNvSpPr txBox="1"/>
              <p:nvPr/>
            </p:nvSpPr>
            <p:spPr>
              <a:xfrm>
                <a:off x="5652843" y="1932503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29E76F4-8747-D59E-08C8-35E0A3246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1932503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4752" r="-47115" b="-495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4. 왜 G₀₀만으로는 충분하지 않은가?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전역 부호 반전 대칭 때문에 절대 부호는 원리적으로 식별할 수 없다.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1F8987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{qᵢ} → {−qᵢ}  ⇒  V → −V  ⇒  V²는 동일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108960"/>
            <a:ext cx="33832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22960" y="3108960"/>
            <a:ext cx="73152" cy="205740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51560" y="32735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복원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749039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위치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크기 |q|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사이의 상대적 부호 구조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3108960"/>
            <a:ext cx="33832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407408" y="3108960"/>
            <a:ext cx="73152" cy="205740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36008" y="32735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복원 불가능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49039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모든 전하의 절대 부호를 동시에 결정하는 것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(+,+,−)와 (−,−,+)의 구별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3108960"/>
            <a:ext cx="33832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991856" y="3108960"/>
            <a:ext cx="73152" cy="205740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20456" y="32735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평가 원칙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3749039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G₀₀-only 모델에는 전역 부호 불변 손실 사용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절대 부호 정확도는 평가 대상에서 제외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5. G₀₅를 전부 주면 AI가 필요 없는가?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핵심은 G₀₅ 전체가 아니라 ‘불완전한 부호 정보’를 제공하는 조건이다.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832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73152" cy="338328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4767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 전체 제공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V에 비례하는 정보를 거의 그대로 제공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고전적 역문제 풀이만으로도 강한 제약 가능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AI의 필요성이 약해질 수 있음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783080"/>
            <a:ext cx="33832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407408" y="1783080"/>
            <a:ext cx="73152" cy="338328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36008" y="194767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 일부 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42316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일부 위치의 값만 관측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마스킹·소실·희소 샘플링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가능한 해가 크게 늘어남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783080"/>
            <a:ext cx="33832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37575" y="1783080"/>
            <a:ext cx="73152" cy="338328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66175" y="194767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AI의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42316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 전체에서 공간 패턴 학습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G₀₅를 부호 앵커로 활용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데이터 분포의 사전정보로 해를 좁힘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384" t="25258" r="7213" b="4434"/>
          <a:stretch>
            <a:fillRect/>
          </a:stretch>
        </p:blipFill>
        <p:spPr>
          <a:xfrm>
            <a:off x="7974687" y="1725419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6. 데이터셋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무작위 전하 배치를 생성하고 각 조건의 관측량과 정답을 함께 저장한다.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73152" cy="361188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8562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입력 A · G₀₀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32×32 G₀₀ 격자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 정보가 직접적으로 없음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baseline 역할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9164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389120" y="1691640"/>
            <a:ext cx="73152" cy="361188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17720" y="18562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입력 B · G₀₀ + partial G₀₅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317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 전체 격자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G₀₅는 일부만 제공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제공 비율을 단계적으로 감소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69164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01000" y="1691640"/>
            <a:ext cx="73152" cy="361188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0" y="18562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정답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317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위치 좌표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 q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 전하를 별도 head로 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2356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500">
                <a:solidFill>
                  <a:srgbClr val="18233A"/>
                </a:solidFill>
              </a:defRPr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현재 실험 데이터 규모: 총 10,000개 → Train 8,000 / Validation 1,000 / Test 1,000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7. AI 모델과 학습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 격자의 공간 특징과 희소 부호 정보를 결합해 위치와 전하량을 동시에 추정한다.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347472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 특징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39"/>
            <a:ext cx="297180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 → CNN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 국소·전역 패턴 학습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AdaptiveAvgPool로 격자 크기 변화 대응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7373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407408" y="1737360"/>
            <a:ext cx="73152" cy="347472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36008" y="19019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377439"/>
            <a:ext cx="297180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partial G₀₅ feature를 별도 입력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CNN feature와 결합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관측량별 역할을 분리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7373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37575" y="1737360"/>
            <a:ext cx="73152" cy="347472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66175" y="19019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출력 및 손실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377439"/>
            <a:ext cx="297180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Position head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Charge head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 손실 + 전하 손실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G₀₀-only는 전역 부호 불변 처리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5305</TotalTime>
  <Words>1142</Words>
  <Application>Microsoft Office PowerPoint</Application>
  <PresentationFormat>와이드스크린</PresentationFormat>
  <Paragraphs>322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24</vt:i4>
      </vt:variant>
    </vt:vector>
  </HeadingPairs>
  <TitlesOfParts>
    <vt:vector size="30" baseType="lpstr">
      <vt:lpstr>맑은 고딕</vt:lpstr>
      <vt:lpstr>Arial</vt:lpstr>
      <vt:lpstr>Calibri</vt:lpstr>
      <vt:lpstr>Cambria Math</vt:lpstr>
      <vt:lpstr>Office 테마</vt:lpstr>
      <vt:lpstr>Office Theme</vt:lpstr>
      <vt:lpstr>PowerPoint 프레젠테이션</vt:lpstr>
      <vt:lpstr>AI를 활용한 전하 분포 역추정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1</cp:revision>
  <dcterms:created xsi:type="dcterms:W3CDTF">2026-08-20T04:49:28Z</dcterms:created>
  <dcterms:modified xsi:type="dcterms:W3CDTF">2026-08-26T00:32:39Z</dcterms:modified>
</cp:coreProperties>
</file>