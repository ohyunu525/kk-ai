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0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329" r:id="rId13"/>
    <p:sldId id="331" r:id="rId14"/>
    <p:sldId id="277" r:id="rId15"/>
    <p:sldId id="279" r:id="rId16"/>
    <p:sldId id="282" r:id="rId17"/>
    <p:sldId id="283" r:id="rId18"/>
    <p:sldId id="288" r:id="rId19"/>
    <p:sldId id="332" r:id="rId20"/>
    <p:sldId id="280" r:id="rId21"/>
    <p:sldId id="325" r:id="rId22"/>
    <p:sldId id="310" r:id="rId23"/>
    <p:sldId id="314" r:id="rId24"/>
    <p:sldId id="265" r:id="rId25"/>
    <p:sldId id="316" r:id="rId26"/>
    <p:sldId id="315" r:id="rId27"/>
    <p:sldId id="319" r:id="rId28"/>
    <p:sldId id="289" r:id="rId29"/>
    <p:sldId id="320" r:id="rId30"/>
    <p:sldId id="318" r:id="rId31"/>
    <p:sldId id="291" r:id="rId32"/>
    <p:sldId id="312" r:id="rId33"/>
    <p:sldId id="322" r:id="rId34"/>
    <p:sldId id="323" r:id="rId35"/>
    <p:sldId id="321" r:id="rId36"/>
    <p:sldId id="324" r:id="rId37"/>
    <p:sldId id="292" r:id="rId38"/>
    <p:sldId id="313" r:id="rId39"/>
    <p:sldId id="326" r:id="rId40"/>
    <p:sldId id="290" r:id="rId41"/>
    <p:sldId id="309" r:id="rId42"/>
    <p:sldId id="333" r:id="rId43"/>
    <p:sldId id="327" r:id="rId44"/>
    <p:sldId id="281" r:id="rId45"/>
    <p:sldId id="284" r:id="rId46"/>
    <p:sldId id="285" r:id="rId47"/>
    <p:sldId id="286" r:id="rId48"/>
    <p:sldId id="287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329"/>
            <p14:sldId id="331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332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결과 분석" id="{0E94D959-7BFC-44A2-984E-6A8399320528}">
          <p14:sldIdLst>
            <p14:sldId id="290"/>
            <p14:sldId id="309"/>
            <p14:sldId id="333"/>
          </p14:sldIdLst>
        </p14:section>
        <p14:section name="느낀점" id="{24EFFBF0-5F96-42A7-9C45-6A74E515B8DC}">
          <p14:sldIdLst>
            <p14:sldId id="327"/>
          </p14:sldIdLst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13" autoAdjust="0"/>
    <p:restoredTop sz="94660"/>
  </p:normalViewPr>
  <p:slideViewPr>
    <p:cSldViewPr snapToGrid="0">
      <p:cViewPr>
        <p:scale>
          <a:sx n="66" d="100"/>
          <a:sy n="66" d="100"/>
        </p:scale>
        <p:origin x="555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.xml"/><Relationship Id="rId5" Type="http://schemas.openxmlformats.org/officeDocument/2006/relationships/image" Target="../media/image7.png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microsoft.com/office/2017/06/relationships/model3d" Target="../media/model3d4.glb"/><Relationship Id="rId7" Type="http://schemas.openxmlformats.org/officeDocument/2006/relationships/image" Target="../media/image2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0.xml"/><Relationship Id="rId6" Type="http://schemas.microsoft.com/office/2017/06/relationships/model3d" Target="../media/model3d3.glb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1.xml"/><Relationship Id="rId5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2.xml"/><Relationship Id="rId6" Type="http://schemas.openxmlformats.org/officeDocument/2006/relationships/image" Target="../media/image32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3.xml"/><Relationship Id="rId6" Type="http://schemas.openxmlformats.org/officeDocument/2006/relationships/image" Target="../media/image38.png"/><Relationship Id="rId5" Type="http://schemas.microsoft.com/office/2017/06/relationships/model3d" Target="../media/model3d3.glb"/><Relationship Id="rId4" Type="http://schemas.microsoft.com/office/2007/relationships/hdphoto" Target="../media/hdphoto5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4.xml"/><Relationship Id="rId6" Type="http://schemas.openxmlformats.org/officeDocument/2006/relationships/image" Target="../media/image36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5.xml"/><Relationship Id="rId4" Type="http://schemas.openxmlformats.org/officeDocument/2006/relationships/image" Target="../media/image3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7.xml"/><Relationship Id="rId6" Type="http://schemas.openxmlformats.org/officeDocument/2006/relationships/image" Target="../media/image44.png"/><Relationship Id="rId5" Type="http://schemas.openxmlformats.org/officeDocument/2006/relationships/image" Target="../media/image370.png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8.xml"/><Relationship Id="rId6" Type="http://schemas.openxmlformats.org/officeDocument/2006/relationships/image" Target="../media/image42.svg"/><Relationship Id="rId5" Type="http://schemas.openxmlformats.org/officeDocument/2006/relationships/image" Target="../media/image170.png"/><Relationship Id="rId4" Type="http://schemas.openxmlformats.org/officeDocument/2006/relationships/image" Target="../media/image41.jp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4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1.jpg"/><Relationship Id="rId4" Type="http://schemas.openxmlformats.org/officeDocument/2006/relationships/image" Target="../media/image19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974809" y="2928069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16"/>
    </mc:Choice>
    <mc:Fallback xmlns="">
      <p:transition spd="slow" advTm="40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503">
        <p159:morph option="byObject"/>
      </p:transition>
    </mc:Choice>
    <mc:Fallback xmlns="">
      <p:transition spd="slow" advTm="50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EBF7D5-3A16-A278-ABDB-713E5792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BEBB7A-DE99-DC5B-AEA4-113312EA8474}"/>
              </a:ext>
            </a:extLst>
          </p:cNvPr>
          <p:cNvSpPr txBox="1"/>
          <p:nvPr/>
        </p:nvSpPr>
        <p:spPr>
          <a:xfrm>
            <a:off x="658368" y="384048"/>
            <a:ext cx="27158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1-2. </a:t>
            </a:r>
            <a:r>
              <a:rPr lang="ko-KR" altLang="en-US" sz="2800" b="1" dirty="0">
                <a:solidFill>
                  <a:srgbClr val="18233A"/>
                </a:solidFill>
              </a:rPr>
              <a:t>역방향 문제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8E365-BB01-E4BE-8FA0-DEFDD55486E9}"/>
              </a:ext>
            </a:extLst>
          </p:cNvPr>
          <p:cNvSpPr txBox="1"/>
          <p:nvPr/>
        </p:nvSpPr>
        <p:spPr>
          <a:xfrm>
            <a:off x="676656" y="987552"/>
            <a:ext cx="361509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전위를 바탕으로 전하의 크기와 분포를 추론한다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92BFC5-F0FC-510D-4706-478CA4CE8F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326" y="0"/>
            <a:ext cx="12171674" cy="684656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32DE42-86B1-3D33-5E48-62E8B1148275}"/>
              </a:ext>
            </a:extLst>
          </p:cNvPr>
          <p:cNvSpPr/>
          <p:nvPr/>
        </p:nvSpPr>
        <p:spPr>
          <a:xfrm>
            <a:off x="0" y="-3176"/>
            <a:ext cx="12192000" cy="6849743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736930-138A-E42F-B8DF-FF0AF9EEEAD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BE93B0-0EAA-5C24-4CD9-B367FC72588E}"/>
              </a:ext>
            </a:extLst>
          </p:cNvPr>
          <p:cNvSpPr/>
          <p:nvPr/>
        </p:nvSpPr>
        <p:spPr>
          <a:xfrm>
            <a:off x="2679700" y="3553279"/>
            <a:ext cx="1771650" cy="1250950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전하</a:t>
            </a:r>
            <a:r>
              <a:rPr lang="en-US" altLang="ko-KR" sz="4000" dirty="0">
                <a:latin typeface="+mj-ea"/>
                <a:ea typeface="+mj-ea"/>
              </a:rPr>
              <a:t>(Q)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E7A5BE5-156E-C97A-A0F4-DDF6EAD3AA49}"/>
              </a:ext>
            </a:extLst>
          </p:cNvPr>
          <p:cNvSpPr/>
          <p:nvPr/>
        </p:nvSpPr>
        <p:spPr>
          <a:xfrm>
            <a:off x="7849804" y="3553279"/>
            <a:ext cx="1771650" cy="12509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전위</a:t>
            </a:r>
            <a:r>
              <a:rPr lang="en-US" altLang="ko-KR" sz="4000" dirty="0">
                <a:latin typeface="+mj-ea"/>
                <a:ea typeface="+mj-ea"/>
              </a:rPr>
              <a:t>(V)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E7E693FA-24B3-6D18-D33E-E370182006D8}"/>
              </a:ext>
            </a:extLst>
          </p:cNvPr>
          <p:cNvSpPr/>
          <p:nvPr/>
        </p:nvSpPr>
        <p:spPr>
          <a:xfrm>
            <a:off x="5400732" y="3810310"/>
            <a:ext cx="1499690" cy="800100"/>
          </a:xfrm>
          <a:prstGeom prst="rightArrow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ADADF7-686A-4F02-60ED-7FF3BFB1021A}"/>
              </a:ext>
            </a:extLst>
          </p:cNvPr>
          <p:cNvSpPr txBox="1"/>
          <p:nvPr/>
        </p:nvSpPr>
        <p:spPr>
          <a:xfrm>
            <a:off x="3316662" y="1683178"/>
            <a:ext cx="5667829" cy="101566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 err="1"/>
              <a:t>푸아송</a:t>
            </a:r>
            <a:r>
              <a:rPr lang="ko-KR" altLang="en-US" sz="3000" b="1" dirty="0"/>
              <a:t> 방정식을 통해 전하밀도 함수를 직접 구할 수 있다</a:t>
            </a:r>
          </a:p>
        </p:txBody>
      </p:sp>
    </p:spTree>
    <p:extLst>
      <p:ext uri="{BB962C8B-B14F-4D97-AF65-F5344CB8AC3E}">
        <p14:creationId xmlns:p14="http://schemas.microsoft.com/office/powerpoint/2010/main" val="3116423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61A4B-80D9-EBC0-ACE3-F6369F222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C8E30B-6E8E-DABD-ACE1-4A580B397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BE979EC-E42D-8B2F-9F22-AB2B14D4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526385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0">
        <p159:morph option="byObject"/>
      </p:transition>
    </mc:Choice>
    <mc:Fallback>
      <p:transition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3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6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7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3447A-4208-CD55-68FD-0A4FB38EC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35F55B-4A50-EA40-CB65-A21788FF4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7006D68-F4BE-6C39-79D5-82327238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2870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0">
        <p:fade/>
      </p:transition>
    </mc:Choice>
    <mc:Fallback>
      <p:transition spd="med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19" grpId="0" animBg="1"/>
      <p:bldP spid="21" grpId="0" animBg="1"/>
      <p:bldP spid="30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0">
        <p:fade/>
      </p:transition>
    </mc:Choice>
    <mc:Fallback>
      <p:transition spd="med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8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  <p:bldP spid="14" grpId="0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557809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 실제 전하 정보 복원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3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4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4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5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B778F6-87B8-3FF4-82C8-433E95F0557C}"/>
              </a:ext>
            </a:extLst>
          </p:cNvPr>
          <p:cNvSpPr txBox="1"/>
          <p:nvPr/>
        </p:nvSpPr>
        <p:spPr>
          <a:xfrm>
            <a:off x="676656" y="987552"/>
            <a:ext cx="412965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순서로 인해 출력 정확도가 과소평가 되는 것을 방지한다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7DD309-2244-DE7F-7F5A-36307B46A22E}"/>
              </a:ext>
            </a:extLst>
          </p:cNvPr>
          <p:cNvSpPr txBox="1"/>
          <p:nvPr/>
        </p:nvSpPr>
        <p:spPr>
          <a:xfrm>
            <a:off x="676656" y="987552"/>
            <a:ext cx="412965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순서로 인해 출력 정확도가 과소평가 되는 것을 방지한다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표 12">
                <a:extLst>
                  <a:ext uri="{FF2B5EF4-FFF2-40B4-BE49-F238E27FC236}">
                    <a16:creationId xmlns:a16="http://schemas.microsoft.com/office/drawing/2014/main" id="{641826AC-E82A-B2A0-E086-EF985E536C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9105287"/>
                  </p:ext>
                </p:extLst>
              </p:nvPr>
            </p:nvGraphicFramePr>
            <p:xfrm>
              <a:off x="3495751" y="1353312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제공량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관측 점 수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표 12">
                <a:extLst>
                  <a:ext uri="{FF2B5EF4-FFF2-40B4-BE49-F238E27FC236}">
                    <a16:creationId xmlns:a16="http://schemas.microsoft.com/office/drawing/2014/main" id="{641826AC-E82A-B2A0-E086-EF985E536C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9105287"/>
                  </p:ext>
                </p:extLst>
              </p:nvPr>
            </p:nvGraphicFramePr>
            <p:xfrm>
              <a:off x="3495751" y="1353312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9" t="-1681" r="-300599" b="-6008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601" t="-1681" r="-201502" b="-6008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3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결과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4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/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000" dirty="0"/>
                  <a:t>얼마나 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  <m:r>
                      <a:rPr lang="en-US" altLang="ko-KR" sz="3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3000" dirty="0"/>
                  <a:t>정보로</a:t>
                </a:r>
                <a:endParaRPr lang="en-US" altLang="ko-KR" sz="3000" dirty="0"/>
              </a:p>
              <a:p>
                <a:r>
                  <a:rPr lang="ko-KR" altLang="en-US" sz="3000" dirty="0"/>
                  <a:t>복원이 가능할까</a:t>
                </a:r>
                <a:r>
                  <a:rPr lang="en-US" altLang="ko-KR" sz="3000" dirty="0"/>
                  <a:t>?</a:t>
                </a:r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blipFill>
                <a:blip r:embed="rId6"/>
                <a:stretch>
                  <a:fillRect l="-3545" t="-7059" r="-2659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7D0C920-ADFE-6C83-38C0-9A5522B3B438}"/>
              </a:ext>
            </a:extLst>
          </p:cNvPr>
          <p:cNvSpPr txBox="1"/>
          <p:nvPr/>
        </p:nvSpPr>
        <p:spPr>
          <a:xfrm>
            <a:off x="4771598" y="1790094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/>
              <a:t>Hmm...</a:t>
            </a:r>
            <a:endParaRPr lang="ko-KR" altLang="en-US" sz="4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3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3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0 L 0.24322 -0.14097 " pathEditMode="relative" rAng="0" ptsTypes="AA">
                                      <p:cBhvr>
                                        <p:cTn id="3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70" y="-70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3685 -0.04028 " pathEditMode="relative" rAng="0" ptsTypes="AA">
                                      <p:cBhvr>
                                        <p:cTn id="4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31" y="-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800"/>
                            </p:stCondLst>
                            <p:childTnLst>
                              <p:par>
                                <p:cTn id="4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3216 0.06273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602" y="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5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3633 0.17292 " pathEditMode="relative" rAng="0" ptsTypes="AA">
                                      <p:cBhvr>
                                        <p:cTn id="5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86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2969 0.28403 " pathEditMode="relative" rAng="0" ptsTypes="AA">
                                      <p:cBhvr>
                                        <p:cTn id="62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84" y="141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2669 0.38889 " pathEditMode="relative" rAng="0" ptsTypes="AA">
                                      <p:cBhvr>
                                        <p:cTn id="6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328" y="19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0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  <p:bldP spid="10" grpId="0" uiExpand="1" build="allAtOnce"/>
      <p:bldP spid="10" grpId="1" uiExpand="1" build="allAtOnce"/>
      <p:bldP spid="11" grpId="0"/>
      <p:bldP spid="11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BC11EB-5664-BCE0-CAAD-AE2907DD6DEB}"/>
              </a:ext>
            </a:extLst>
          </p:cNvPr>
          <p:cNvSpPr txBox="1"/>
          <p:nvPr/>
        </p:nvSpPr>
        <p:spPr>
          <a:xfrm>
            <a:off x="658368" y="384048"/>
            <a:ext cx="21771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3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탐구 결과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04926C-B922-E3FF-2218-BA7AE502EBA5}"/>
              </a:ext>
            </a:extLst>
          </p:cNvPr>
          <p:cNvSpPr txBox="1"/>
          <p:nvPr/>
        </p:nvSpPr>
        <p:spPr>
          <a:xfrm>
            <a:off x="658368" y="384048"/>
            <a:ext cx="21771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3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탐구 결과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667138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2510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1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|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0.9|2.1|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1.8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|1.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1.3|1.5|3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4.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1|1.1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12613</TotalTime>
  <Words>1208</Words>
  <Application>Microsoft Office PowerPoint</Application>
  <PresentationFormat>와이드스크린</PresentationFormat>
  <Paragraphs>397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53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489</cp:revision>
  <dcterms:created xsi:type="dcterms:W3CDTF">2026-08-20T04:49:28Z</dcterms:created>
  <dcterms:modified xsi:type="dcterms:W3CDTF">2026-08-31T08:28:26Z</dcterms:modified>
</cp:coreProperties>
</file>